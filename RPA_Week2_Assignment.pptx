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a:t>
            </a:r>
          </a:p>
          <a:p/>
          <a:p>
            <a:r>
              <a:t>My name is [your name], and today I'll be walking you through my Week 2 RPA project plan — a comprehensive proposal to automate invoice processing using UiPath.</a:t>
            </a:r>
          </a:p>
          <a:p/>
          <a:p>
            <a:r>
              <a:t>This assignment builds on the use case analysis I completed in Week 1. What I've developed is a full project plan covering why I chose UiPath, a visual process flowchart, a formal Process Design Document, and a step-by-step implementation strategy.</a:t>
            </a:r>
          </a:p>
          <a:p/>
          <a:p>
            <a:r>
              <a:t>The entire plan is also published as an interactive website, which you can find at the GitHub link shown here. I'll take you through each component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website I built using Claude Code — what the course calls "vibe coding."</a:t>
            </a:r>
          </a:p>
          <a:p/>
          <a:p>
            <a:r>
              <a:t>Rather than writing raw HTML from scratch, I described what I wanted to Claude — a professional single-page RPA project plan with a Mermaid.js flowchart, comparison table, and PDD sections — and Claude generated the full website for me.</a:t>
            </a:r>
          </a:p>
          <a:p/>
          <a:p>
            <a:r>
              <a:t>I iterated on it by refining the sections, adjusting the colors and layout, and making sure every required component from the assignment was covered.</a:t>
            </a:r>
          </a:p>
          <a:p/>
          <a:p>
            <a:r>
              <a:t>The website is hosted on GitHub and can be opened in any browser. It serves as the primary deliverable for this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project, I evaluated four major RPA platforms: UiPath, Automation Anywhere, Blue Prism, and Microsoft Power Automate.</a:t>
            </a:r>
          </a:p>
          <a:p/>
          <a:p>
            <a:r>
              <a:t>I chose UiPath for three main reasons.</a:t>
            </a:r>
          </a:p>
          <a:p/>
          <a:p>
            <a:r>
              <a:t>First, it has the best document understanding capabilities. Invoice processing means reading PDFs, and UiPath's built-in AI-powered OCR — called Document Understanding — is purpose-built for exactly this.</a:t>
            </a:r>
          </a:p>
          <a:p/>
          <a:p>
            <a:r>
              <a:t>Second, it has a free Community Edition, which makes it accessible for development and prototyping without upfront licensing costs.</a:t>
            </a:r>
          </a:p>
          <a:p/>
          <a:p>
            <a:r>
              <a:t>Third, UiPath Orchestrator gives us enterprise-grade scheduling and monitoring out of the box, so once we deploy, we can track every bot run, handle exceptions, and scale up easily.</a:t>
            </a:r>
          </a:p>
          <a:p/>
          <a:p>
            <a:r>
              <a:t>I acknowledged the limitations too — it's more expensive than Power Automate at enterprise scale, and it has a steeper learning curve for non-technical users. But for a finance automation with complex PDF handling, it's the right tool.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breaks down 9 key criteria across all four tools.</a:t>
            </a:r>
          </a:p>
          <a:p/>
          <a:p>
            <a:r>
              <a:t>The columns highlighted in blue are UiPath's results — you can see it scores highest or equal-highest across document extraction, email automation, free tier availability, and orchestration.</a:t>
            </a:r>
          </a:p>
          <a:p/>
          <a:p>
            <a:r>
              <a:t>Blue Prism is a strong enterprise tool but it's overkill and very expensive for this use case — it's designed for IT-heavy environments and doesn't have a free development tier.</a:t>
            </a:r>
          </a:p>
          <a:p/>
          <a:p>
            <a:r>
              <a:t>Power Automate would be a reasonable choice if the company is already fully inside Microsoft 365, but its document understanding and unattended bot capabilities are weaker than UiPath for complex PDF invoices.</a:t>
            </a:r>
          </a:p>
          <a:p/>
          <a:p>
            <a:r>
              <a:t>The table also shows pricing context. UiPath is not the cheapest, but for the return on investment this automation delivers — eliminating 45 minutes of manual work per invoice — the cost is easily justified.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was generated using Mermaid.js directly inside the website — which is one of the things I'm proud of from the vibe coding process.</a:t>
            </a:r>
          </a:p>
          <a:p/>
          <a:p>
            <a:r>
              <a:t>Let me walk you through the key decision points.</a:t>
            </a:r>
          </a:p>
          <a:p/>
          <a:p>
            <a:r>
              <a:t>The process starts when an invoice email arrives. The first check is: does it have an attachment? If not, an alert goes to the AP team and the process ends as an exception.</a:t>
            </a:r>
          </a:p>
          <a:p/>
          <a:p>
            <a:r>
              <a:t>If the attachment exists, the bot downloads it and runs OCR to extract the data. If extraction fails — maybe the PDF is corrupted or in a weird format — that goes to a manual queue.</a:t>
            </a:r>
          </a:p>
          <a:p/>
          <a:p>
            <a:r>
              <a:t>Once data is extracted and validated, we hit the main business rule: is the amount over $5,000? If yes, it routes to the manager for approval via email or Teams. If the manager rejects it, we notify the vendor and log it. If approved — or if it was under $5,000 and auto-approved — the bot enters it into the accounting system, saves the record, and sends the confirmation email.</a:t>
            </a:r>
          </a:p>
          <a:p/>
          <a:p>
            <a:r>
              <a:t>The color coding is deliberate: blue diamonds are decisions, red paths are exceptions, yellow is human involvement, and green is automated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Design Document is the formal blueprint for the automation — the document you'd hand to a developer to build it.</a:t>
            </a:r>
          </a:p>
          <a:p/>
          <a:p>
            <a:r>
              <a:t>The Process Overview section captures the current state: accounts payable staff are spending 45 to 60 minutes per invoice doing tasks that are entirely repetitive and rules-based. That's the exact type of work RPA is built for.</a:t>
            </a:r>
          </a:p>
          <a:p/>
          <a:p>
            <a:r>
              <a:t>The Scope section is important because it sets clear boundaries. What's included: everything from email monitoring through to confirmation emails. What's excluded: manager approval decisions, handling vendor disputes, processing handwritten invoices, and anything in a non-English language. Setting these boundaries protects the project from scope creep.</a:t>
            </a:r>
          </a:p>
          <a:p/>
          <a:p>
            <a:r>
              <a:t>The Inputs and Outputs section specifies the data formats — PDF attachments and MIME email in, JSON to the ERP API, SQL database rows, and SMTP confirmation emails out. This level of specificity matters when you're actually building and testing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Exception handling is where a lot of RPA projects fail in production — so I've been deliberate about covering every realistic failure scenario.</a:t>
            </a:r>
          </a:p>
          <a:p/>
          <a:p>
            <a:r>
              <a:t>The five exceptions I've handled are: missing attachment, OCR extraction failure, data validation errors like a missing PO number or duplicate invoice, the accounting system being unavailable, and an approval timeout where the manager doesn't respond within 48 hours.</a:t>
            </a:r>
          </a:p>
          <a:p/>
          <a:p>
            <a:r>
              <a:t>For each one, the bot doesn't just crash — it logs the issue, sends an alert, and either retries or routes to a human. That's what makes an automation resilient.</a:t>
            </a:r>
          </a:p>
          <a:p/>
          <a:p>
            <a:r>
              <a:t>The Success Criteria section sets measurable targets: 90% straight-through processing, 70% reduction in cycle time from 45 minutes down to around 3 minutes, a data error rate below 1%, 99.5% bot uptime, and payback within 6 months.</a:t>
            </a:r>
          </a:p>
          <a:p/>
          <a:p>
            <a:r>
              <a:t>These aren't arbitrary numbers — they're based on typical RPA benchmarks for invoice automation projects at similar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section translates the design into a real development plan across four areas.</a:t>
            </a:r>
          </a:p>
          <a:p/>
          <a:p>
            <a:r>
              <a:t>Environment setup: we install UiPath Studio Community Edition, connect it to Orchestrator, and add the activity packages we need — Mail Activities, PDF Activities, and Document Understanding. Credentials are stored in Orchestrator Assets, never hardcoded in the workflow.</a:t>
            </a:r>
          </a:p>
          <a:p/>
          <a:p>
            <a:r>
              <a:t>Workflow configuration: the bot is triggered every 15 minutes by an Orchestrator schedule, or on email arrival. Key variables like InvoiceAmount, VendorName, and ApprovalStatus are defined upfront. Business rules like the $5,000 threshold live in a config file so they can be changed without touching the code.</a:t>
            </a:r>
          </a:p>
          <a:p/>
          <a:p>
            <a:r>
              <a:t>System integration: we connect to the email inbox using UiPath's native IMAP or Outlook activities, use Document Understanding for PDF extraction, and write to the accounting system either via UI automation or a REST API if one's available.</a:t>
            </a:r>
          </a:p>
          <a:p/>
          <a:p>
            <a:r>
              <a:t>Testing follows a four-phase approach: unit tests for each activity, integration tests with 10 sample invoices including edge cases, user acceptance testing with the AP team, and a two-week parallel run where we compare bot results against manual processing before full go-live.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is structured as an 8-week rollout.</a:t>
            </a:r>
          </a:p>
          <a:p/>
          <a:p>
            <a:r>
              <a:t>Weeks 1 and 2 are environment setup and requirements finalization — making sure the dev environment is configured and all stakeholders have signed off on the scope.</a:t>
            </a:r>
          </a:p>
          <a:p/>
          <a:p>
            <a:r>
              <a:t>Weeks 3 through 5 are the core development phase — building the main workflow, unit testing each component, and refining the OCR extraction model on real invoice samples.</a:t>
            </a:r>
          </a:p>
          <a:p/>
          <a:p>
            <a:r>
              <a:t>Week 6 is integration testing and exception handling refinement — running the bot end-to-end and stress-testing the edge cases.</a:t>
            </a:r>
          </a:p>
          <a:p/>
          <a:p>
            <a:r>
              <a:t>Week 7 is UAT with the actual accounts payable team, plus the parallel run where we shadow manual processing.</a:t>
            </a:r>
          </a:p>
          <a:p/>
          <a:p>
            <a:r>
              <a:t>Week 8 is go-live, monitoring setup, and handover documentation.</a:t>
            </a:r>
          </a:p>
          <a:p/>
          <a:p>
            <a:r>
              <a:t>This is a realistic timeline for a project of this scope. It's not rushed, but it's also not padded — most RPA invoice projects of this complexity can be delivered in 6 to 10 weeks.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let me summarize the key points of this project plan.</a:t>
            </a:r>
          </a:p>
          <a:p/>
          <a:p>
            <a:r>
              <a:t>I selected UiPath because it's the strongest tool for PDF-heavy invoice automation, offers a free Community Edition, and includes enterprise orchestration.</a:t>
            </a:r>
          </a:p>
          <a:p/>
          <a:p>
            <a:r>
              <a:t>The process we're automating eliminates 45 minutes of manual work per invoice, reducing it to roughly 3 minutes through straight-through processing.</a:t>
            </a:r>
          </a:p>
          <a:p/>
          <a:p>
            <a:r>
              <a:t>The PDD documents everything a developer needs: scope boundaries, data formats, five exception scenarios with defined responses, and five measurable success criteria.</a:t>
            </a:r>
          </a:p>
          <a:p/>
          <a:p>
            <a:r>
              <a:t>The implementation follows a structured 8-week roadmap with unit testing, integration testing, UAT, and a parallel run before go-live.</a:t>
            </a:r>
          </a:p>
          <a:p/>
          <a:p>
            <a:r>
              <a:t>And the entire plan is presented on an interactive website built using Claude Code, demonstrating how vibe coding can produce professional, assignment-ready deliverables quickly and effectively.</a:t>
            </a:r>
          </a:p>
          <a:p/>
          <a:p>
            <a:r>
              <a:t>Thank you — I'm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914400"/>
          </a:xfrm>
          <a:prstGeom prst="rect">
            <a:avLst/>
          </a:prstGeom>
          <a:solidFill>
            <a:srgbClr val="16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144000" cy="457200"/>
          </a:xfrm>
          <a:prstGeom prst="rect">
            <a:avLst/>
          </a:prstGeom>
          <a:noFill/>
        </p:spPr>
        <p:txBody>
          <a:bodyPr wrap="square">
            <a:spAutoFit/>
          </a:bodyPr>
          <a:lstStyle/>
          <a:p>
            <a:pPr algn="ctr"/>
            <a:r>
              <a:rPr sz="1100" b="1">
                <a:solidFill>
                  <a:srgbClr val="0077CC"/>
                </a:solidFill>
              </a:rPr>
              <a:t>WEEK 2 ASSIGNMENT</a:t>
            </a:r>
          </a:p>
        </p:txBody>
      </p:sp>
      <p:sp>
        <p:nvSpPr>
          <p:cNvPr id="5" name="TextBox 4"/>
          <p:cNvSpPr txBox="1"/>
          <p:nvPr/>
        </p:nvSpPr>
        <p:spPr>
          <a:xfrm>
            <a:off x="914400" y="1645920"/>
            <a:ext cx="10360152" cy="1097280"/>
          </a:xfrm>
          <a:prstGeom prst="rect">
            <a:avLst/>
          </a:prstGeom>
          <a:noFill/>
        </p:spPr>
        <p:txBody>
          <a:bodyPr wrap="square">
            <a:spAutoFit/>
          </a:bodyPr>
          <a:lstStyle/>
          <a:p>
            <a:pPr algn="ctr"/>
            <a:r>
              <a:rPr sz="3600" b="1">
                <a:solidFill>
                  <a:srgbClr val="FFFFFF"/>
                </a:solidFill>
              </a:rPr>
              <a:t>Invoice Processing Automation</a:t>
            </a:r>
          </a:p>
        </p:txBody>
      </p:sp>
      <p:sp>
        <p:nvSpPr>
          <p:cNvPr id="6" name="TextBox 5"/>
          <p:cNvSpPr txBox="1"/>
          <p:nvPr/>
        </p:nvSpPr>
        <p:spPr>
          <a:xfrm>
            <a:off x="914400" y="2743200"/>
            <a:ext cx="10360152" cy="548640"/>
          </a:xfrm>
          <a:prstGeom prst="rect">
            <a:avLst/>
          </a:prstGeom>
          <a:noFill/>
        </p:spPr>
        <p:txBody>
          <a:bodyPr wrap="square">
            <a:spAutoFit/>
          </a:bodyPr>
          <a:lstStyle/>
          <a:p>
            <a:pPr algn="ctr"/>
            <a:r>
              <a:rPr sz="1800" b="0">
                <a:solidFill>
                  <a:srgbClr val="AACCEE"/>
                </a:solidFill>
              </a:rPr>
              <a:t>Using UiPath RPA — Comprehensive Project Plan</a:t>
            </a:r>
          </a:p>
        </p:txBody>
      </p:sp>
      <p:sp>
        <p:nvSpPr>
          <p:cNvPr id="7" name="Rectangle 6"/>
          <p:cNvSpPr/>
          <p:nvPr/>
        </p:nvSpPr>
        <p:spPr>
          <a:xfrm>
            <a:off x="45720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03320"/>
            <a:ext cx="2468880" cy="320040"/>
          </a:xfrm>
          <a:prstGeom prst="rect">
            <a:avLst/>
          </a:prstGeom>
          <a:noFill/>
        </p:spPr>
        <p:txBody>
          <a:bodyPr wrap="square">
            <a:spAutoFit/>
          </a:bodyPr>
          <a:lstStyle/>
          <a:p>
            <a:pPr algn="ctr"/>
            <a:r>
              <a:rPr sz="800" b="0">
                <a:solidFill>
                  <a:srgbClr val="7F8C8D"/>
                </a:solidFill>
              </a:rPr>
              <a:t>TOOL</a:t>
            </a:r>
          </a:p>
        </p:txBody>
      </p:sp>
      <p:sp>
        <p:nvSpPr>
          <p:cNvPr id="9" name="TextBox 8"/>
          <p:cNvSpPr txBox="1"/>
          <p:nvPr/>
        </p:nvSpPr>
        <p:spPr>
          <a:xfrm>
            <a:off x="548640" y="3977639"/>
            <a:ext cx="2468880" cy="548640"/>
          </a:xfrm>
          <a:prstGeom prst="rect">
            <a:avLst/>
          </a:prstGeom>
          <a:noFill/>
        </p:spPr>
        <p:txBody>
          <a:bodyPr wrap="square">
            <a:spAutoFit/>
          </a:bodyPr>
          <a:lstStyle/>
          <a:p>
            <a:pPr algn="ctr"/>
            <a:r>
              <a:rPr sz="1300" b="1">
                <a:solidFill>
                  <a:srgbClr val="FFFFFF"/>
                </a:solidFill>
              </a:rPr>
              <a:t>UiPath</a:t>
            </a:r>
          </a:p>
        </p:txBody>
      </p:sp>
      <p:sp>
        <p:nvSpPr>
          <p:cNvPr id="10" name="Rectangle 9"/>
          <p:cNvSpPr/>
          <p:nvPr/>
        </p:nvSpPr>
        <p:spPr>
          <a:xfrm>
            <a:off x="338328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703320"/>
            <a:ext cx="2468880" cy="320040"/>
          </a:xfrm>
          <a:prstGeom prst="rect">
            <a:avLst/>
          </a:prstGeom>
          <a:noFill/>
        </p:spPr>
        <p:txBody>
          <a:bodyPr wrap="square">
            <a:spAutoFit/>
          </a:bodyPr>
          <a:lstStyle/>
          <a:p>
            <a:pPr algn="ctr"/>
            <a:r>
              <a:rPr sz="800" b="0">
                <a:solidFill>
                  <a:srgbClr val="7F8C8D"/>
                </a:solidFill>
              </a:rPr>
              <a:t>PROCESS</a:t>
            </a:r>
          </a:p>
        </p:txBody>
      </p:sp>
      <p:sp>
        <p:nvSpPr>
          <p:cNvPr id="12" name="TextBox 11"/>
          <p:cNvSpPr txBox="1"/>
          <p:nvPr/>
        </p:nvSpPr>
        <p:spPr>
          <a:xfrm>
            <a:off x="3474720" y="3977639"/>
            <a:ext cx="2468880" cy="548640"/>
          </a:xfrm>
          <a:prstGeom prst="rect">
            <a:avLst/>
          </a:prstGeom>
          <a:noFill/>
        </p:spPr>
        <p:txBody>
          <a:bodyPr wrap="square">
            <a:spAutoFit/>
          </a:bodyPr>
          <a:lstStyle/>
          <a:p>
            <a:pPr algn="ctr"/>
            <a:r>
              <a:rPr sz="1300" b="1">
                <a:solidFill>
                  <a:srgbClr val="FFFFFF"/>
                </a:solidFill>
              </a:rPr>
              <a:t>Invoice Processing</a:t>
            </a:r>
          </a:p>
        </p:txBody>
      </p:sp>
      <p:sp>
        <p:nvSpPr>
          <p:cNvPr id="13" name="Rectangle 12"/>
          <p:cNvSpPr/>
          <p:nvPr/>
        </p:nvSpPr>
        <p:spPr>
          <a:xfrm>
            <a:off x="630936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03320"/>
            <a:ext cx="2468880" cy="320040"/>
          </a:xfrm>
          <a:prstGeom prst="rect">
            <a:avLst/>
          </a:prstGeom>
          <a:noFill/>
        </p:spPr>
        <p:txBody>
          <a:bodyPr wrap="square">
            <a:spAutoFit/>
          </a:bodyPr>
          <a:lstStyle/>
          <a:p>
            <a:pPr algn="ctr"/>
            <a:r>
              <a:rPr sz="800" b="0">
                <a:solidFill>
                  <a:srgbClr val="7F8C8D"/>
                </a:solidFill>
              </a:rPr>
              <a:t>AUTOMATION</a:t>
            </a:r>
          </a:p>
        </p:txBody>
      </p:sp>
      <p:sp>
        <p:nvSpPr>
          <p:cNvPr id="15" name="TextBox 14"/>
          <p:cNvSpPr txBox="1"/>
          <p:nvPr/>
        </p:nvSpPr>
        <p:spPr>
          <a:xfrm>
            <a:off x="6400800" y="3977639"/>
            <a:ext cx="2468880" cy="548640"/>
          </a:xfrm>
          <a:prstGeom prst="rect">
            <a:avLst/>
          </a:prstGeom>
          <a:noFill/>
        </p:spPr>
        <p:txBody>
          <a:bodyPr wrap="square">
            <a:spAutoFit/>
          </a:bodyPr>
          <a:lstStyle/>
          <a:p>
            <a:pPr algn="ctr"/>
            <a:r>
              <a:rPr sz="1300" b="1">
                <a:solidFill>
                  <a:srgbClr val="FFFFFF"/>
                </a:solidFill>
              </a:rPr>
              <a:t>Attended + Unattended</a:t>
            </a:r>
          </a:p>
        </p:txBody>
      </p:sp>
      <p:sp>
        <p:nvSpPr>
          <p:cNvPr id="16" name="Rectangle 15"/>
          <p:cNvSpPr/>
          <p:nvPr/>
        </p:nvSpPr>
        <p:spPr>
          <a:xfrm>
            <a:off x="923544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3703320"/>
            <a:ext cx="2468880" cy="320040"/>
          </a:xfrm>
          <a:prstGeom prst="rect">
            <a:avLst/>
          </a:prstGeom>
          <a:noFill/>
        </p:spPr>
        <p:txBody>
          <a:bodyPr wrap="square">
            <a:spAutoFit/>
          </a:bodyPr>
          <a:lstStyle/>
          <a:p>
            <a:pPr algn="ctr"/>
            <a:r>
              <a:rPr sz="800" b="0">
                <a:solidFill>
                  <a:srgbClr val="7F8C8D"/>
                </a:solidFill>
              </a:rPr>
              <a:t>ROI TARGET</a:t>
            </a:r>
          </a:p>
        </p:txBody>
      </p:sp>
      <p:sp>
        <p:nvSpPr>
          <p:cNvPr id="18" name="TextBox 17"/>
          <p:cNvSpPr txBox="1"/>
          <p:nvPr/>
        </p:nvSpPr>
        <p:spPr>
          <a:xfrm>
            <a:off x="9326880" y="3977639"/>
            <a:ext cx="2468880" cy="548640"/>
          </a:xfrm>
          <a:prstGeom prst="rect">
            <a:avLst/>
          </a:prstGeom>
          <a:noFill/>
        </p:spPr>
        <p:txBody>
          <a:bodyPr wrap="square">
            <a:spAutoFit/>
          </a:bodyPr>
          <a:lstStyle/>
          <a:p>
            <a:pPr algn="ctr"/>
            <a:r>
              <a:rPr sz="1300" b="1">
                <a:solidFill>
                  <a:srgbClr val="FFFFFF"/>
                </a:solidFill>
              </a:rPr>
              <a:t>70% Time Reduction</a:t>
            </a:r>
          </a:p>
        </p:txBody>
      </p:sp>
      <p:sp>
        <p:nvSpPr>
          <p:cNvPr id="19" name="TextBox 18"/>
          <p:cNvSpPr txBox="1"/>
          <p:nvPr/>
        </p:nvSpPr>
        <p:spPr>
          <a:xfrm>
            <a:off x="914400" y="5989320"/>
            <a:ext cx="10360152" cy="365760"/>
          </a:xfrm>
          <a:prstGeom prst="rect">
            <a:avLst/>
          </a:prstGeom>
          <a:noFill/>
        </p:spPr>
        <p:txBody>
          <a:bodyPr wrap="square">
            <a:spAutoFit/>
          </a:bodyPr>
          <a:lstStyle/>
          <a:p>
            <a:pPr algn="ctr"/>
            <a:r>
              <a:rPr sz="900" b="0">
                <a:solidFill>
                  <a:srgbClr val="88BBEE"/>
                </a:solidFill>
              </a:rPr>
              <a:t>Live Website: https://omais-eng.github.io/rpa/assignment2/index.html   |   GitHub: https://github.com/omais-eng/rpa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365760"/>
          </a:xfrm>
          <a:prstGeom prst="rect">
            <a:avLst/>
          </a:prstGeom>
          <a:noFill/>
        </p:spPr>
        <p:txBody>
          <a:bodyPr wrap="square">
            <a:spAutoFit/>
          </a:bodyPr>
          <a:lstStyle/>
          <a:p>
            <a:pPr algn="l"/>
            <a:r>
              <a:rPr sz="900" b="1">
                <a:solidFill>
                  <a:srgbClr val="0077CC"/>
                </a:solidFill>
              </a:rPr>
              <a:t>PROJECT WEBSITE — BUILT WITH CLAUDE CODE (VIBE CODING)</a:t>
            </a:r>
          </a:p>
        </p:txBody>
      </p:sp>
      <p:pic>
        <p:nvPicPr>
          <p:cNvPr id="4" name="Picture 3" descr="01_hero_overview.png"/>
          <p:cNvPicPr>
            <a:picLocks noChangeAspect="1"/>
          </p:cNvPicPr>
          <p:nvPr/>
        </p:nvPicPr>
        <p:blipFill>
          <a:blip r:embed="rId2"/>
          <a:stretch>
            <a:fillRect/>
          </a:stretch>
        </p:blipFill>
        <p:spPr>
          <a:xfrm>
            <a:off x="274320" y="594360"/>
            <a:ext cx="11640312" cy="5394960"/>
          </a:xfrm>
          <a:prstGeom prst="rect">
            <a:avLst/>
          </a:prstGeom>
        </p:spPr>
      </p:pic>
      <p:sp>
        <p:nvSpPr>
          <p:cNvPr id="5" name="Rectangle 4"/>
          <p:cNvSpPr/>
          <p:nvPr/>
        </p:nvSpPr>
        <p:spPr>
          <a:xfrm>
            <a:off x="0" y="6035040"/>
            <a:ext cx="12188952"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080760"/>
            <a:ext cx="11612880" cy="457200"/>
          </a:xfrm>
          <a:prstGeom prst="rect">
            <a:avLst/>
          </a:prstGeom>
          <a:noFill/>
        </p:spPr>
        <p:txBody>
          <a:bodyPr wrap="square">
            <a:spAutoFit/>
          </a:bodyPr>
          <a:lstStyle/>
          <a:p>
            <a:pPr algn="l"/>
            <a:r>
              <a:rPr sz="900" b="0">
                <a:solidFill>
                  <a:srgbClr val="88BBEE"/>
                </a:solidFill>
              </a:rPr>
              <a:t>Live Site: https://omais-eng.github.io/rpa/assignment2/index.html  |  GitHub: https://github.com/omais-eng/rpa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1 — RPA TOOL SELECTION</a:t>
            </a:r>
          </a:p>
        </p:txBody>
      </p:sp>
      <p:sp>
        <p:nvSpPr>
          <p:cNvPr id="4" name="TextBox 3"/>
          <p:cNvSpPr txBox="1"/>
          <p:nvPr/>
        </p:nvSpPr>
        <p:spPr>
          <a:xfrm>
            <a:off x="274320" y="502920"/>
            <a:ext cx="8229600" cy="548640"/>
          </a:xfrm>
          <a:prstGeom prst="rect">
            <a:avLst/>
          </a:prstGeom>
          <a:noFill/>
        </p:spPr>
        <p:txBody>
          <a:bodyPr wrap="square">
            <a:spAutoFit/>
          </a:bodyPr>
          <a:lstStyle/>
          <a:p>
            <a:pPr algn="l"/>
            <a:r>
              <a:rPr sz="2600" b="1">
                <a:solidFill>
                  <a:srgbClr val="1E3A5F"/>
                </a:solidFill>
              </a:rPr>
              <a:t>Why I Chose UiPath</a:t>
            </a:r>
          </a:p>
        </p:txBody>
      </p:sp>
      <p:pic>
        <p:nvPicPr>
          <p:cNvPr id="5" name="Picture 4" descr="02_tool_selection.png"/>
          <p:cNvPicPr>
            <a:picLocks noChangeAspect="1"/>
          </p:cNvPicPr>
          <p:nvPr/>
        </p:nvPicPr>
        <p:blipFill>
          <a:blip r:embed="rId2"/>
          <a:stretch>
            <a:fillRect/>
          </a:stretch>
        </p:blipFill>
        <p:spPr>
          <a:xfrm>
            <a:off x="274320" y="1143000"/>
            <a:ext cx="11640312" cy="4846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1 — TOOL COMPARISON MATRIX</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Feature-by-Feature Analysis Across 4 RPA Platforms</a:t>
            </a:r>
          </a:p>
        </p:txBody>
      </p:sp>
      <p:pic>
        <p:nvPicPr>
          <p:cNvPr id="5" name="Picture 4" descr="03_comparison_table.png"/>
          <p:cNvPicPr>
            <a:picLocks noChangeAspect="1"/>
          </p:cNvPicPr>
          <p:nvPr/>
        </p:nvPicPr>
        <p:blipFill>
          <a:blip r:embed="rId2"/>
          <a:stretch>
            <a:fillRect/>
          </a:stretch>
        </p:blipFill>
        <p:spPr>
          <a:xfrm>
            <a:off x="274320" y="1097280"/>
            <a:ext cx="11640312"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2 — PROCESS FLOWCHART</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Invoice Automation Workflow — All Paths &amp; Decision Points</a:t>
            </a:r>
          </a:p>
        </p:txBody>
      </p:sp>
      <p:pic>
        <p:nvPicPr>
          <p:cNvPr id="5" name="Picture 4" descr="04_flowchart.png"/>
          <p:cNvPicPr>
            <a:picLocks noChangeAspect="1"/>
          </p:cNvPicPr>
          <p:nvPr/>
        </p:nvPicPr>
        <p:blipFill>
          <a:blip r:embed="rId2"/>
          <a:stretch>
            <a:fillRect/>
          </a:stretch>
        </p:blipFill>
        <p:spPr>
          <a:xfrm>
            <a:off x="1371600" y="1051560"/>
            <a:ext cx="914400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3 — PROCESS DESIGN DOCUMENT (PDD)</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Process Overview · Scope · Inputs &amp; Outputs</a:t>
            </a:r>
          </a:p>
        </p:txBody>
      </p:sp>
      <p:pic>
        <p:nvPicPr>
          <p:cNvPr id="5" name="Picture 4" descr="05_pdd_top.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3 — PROCESS DESIGN DOCUMENT (PDD)</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Exception Handling · Success KPIs</a:t>
            </a:r>
          </a:p>
        </p:txBody>
      </p:sp>
      <p:pic>
        <p:nvPicPr>
          <p:cNvPr id="5" name="Picture 4" descr="06_pdd_bottom.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4 — WORKFLOW IMPLEMENTATION STRATEGY</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Dev Setup · Configuration · Integrations · Testing</a:t>
            </a:r>
          </a:p>
        </p:txBody>
      </p:sp>
      <p:pic>
        <p:nvPicPr>
          <p:cNvPr id="5" name="Picture 4" descr="07_implementation.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4 — IMPLEMENTATION TIMELINE</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600" b="1">
                <a:solidFill>
                  <a:srgbClr val="1E3A5F"/>
                </a:solidFill>
              </a:rPr>
              <a:t>8-Week Deployment Roadmap</a:t>
            </a:r>
          </a:p>
        </p:txBody>
      </p:sp>
      <p:pic>
        <p:nvPicPr>
          <p:cNvPr id="5" name="Picture 4" descr="08_timeline_footer.png"/>
          <p:cNvPicPr>
            <a:picLocks noChangeAspect="1"/>
          </p:cNvPicPr>
          <p:nvPr/>
        </p:nvPicPr>
        <p:blipFill>
          <a:blip r:embed="rId2"/>
          <a:stretch>
            <a:fillRect/>
          </a:stretch>
        </p:blipFill>
        <p:spPr>
          <a:xfrm>
            <a:off x="274320" y="1097280"/>
            <a:ext cx="11640312"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914400"/>
          </a:xfrm>
          <a:prstGeom prst="rect">
            <a:avLst/>
          </a:prstGeom>
          <a:solidFill>
            <a:srgbClr val="16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74552" cy="640080"/>
          </a:xfrm>
          <a:prstGeom prst="rect">
            <a:avLst/>
          </a:prstGeom>
          <a:noFill/>
        </p:spPr>
        <p:txBody>
          <a:bodyPr wrap="square">
            <a:spAutoFit/>
          </a:bodyPr>
          <a:lstStyle/>
          <a:p>
            <a:pPr algn="ctr"/>
            <a:r>
              <a:rPr sz="3000" b="1">
                <a:solidFill>
                  <a:srgbClr val="FFFFFF"/>
                </a:solidFill>
              </a:rPr>
              <a:t>Summary &amp; Key Takeaways</a:t>
            </a:r>
          </a:p>
        </p:txBody>
      </p:sp>
      <p:sp>
        <p:nvSpPr>
          <p:cNvPr id="5" name="Rectangle 4"/>
          <p:cNvSpPr/>
          <p:nvPr/>
        </p:nvSpPr>
        <p:spPr>
          <a:xfrm>
            <a:off x="457200" y="173736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01368"/>
            <a:ext cx="10881360" cy="530352"/>
          </a:xfrm>
          <a:prstGeom prst="rect">
            <a:avLst/>
          </a:prstGeom>
          <a:noFill/>
        </p:spPr>
        <p:txBody>
          <a:bodyPr wrap="square">
            <a:spAutoFit/>
          </a:bodyPr>
          <a:lstStyle/>
          <a:p>
            <a:pPr algn="l"/>
            <a:r>
              <a:rPr sz="1300" b="0">
                <a:solidFill>
                  <a:srgbClr val="FFFFFF"/>
                </a:solidFill>
              </a:rPr>
              <a:t>Tool Selected:  UiPath — best-in-class PDF/OCR, free tier, enterprise orchestration</a:t>
            </a:r>
          </a:p>
        </p:txBody>
      </p:sp>
      <p:sp>
        <p:nvSpPr>
          <p:cNvPr id="7" name="Rectangle 6"/>
          <p:cNvSpPr/>
          <p:nvPr/>
        </p:nvSpPr>
        <p:spPr>
          <a:xfrm>
            <a:off x="457200" y="251460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78608"/>
            <a:ext cx="10881360" cy="530352"/>
          </a:xfrm>
          <a:prstGeom prst="rect">
            <a:avLst/>
          </a:prstGeom>
          <a:noFill/>
        </p:spPr>
        <p:txBody>
          <a:bodyPr wrap="square">
            <a:spAutoFit/>
          </a:bodyPr>
          <a:lstStyle/>
          <a:p>
            <a:pPr algn="l"/>
            <a:r>
              <a:rPr sz="1300" b="0">
                <a:solidFill>
                  <a:srgbClr val="FFFFFF"/>
                </a:solidFill>
              </a:rPr>
              <a:t>Process Automated:  End-to-end invoice processing — 45 min → ~3 min per invoice</a:t>
            </a:r>
          </a:p>
        </p:txBody>
      </p:sp>
      <p:sp>
        <p:nvSpPr>
          <p:cNvPr id="9" name="Rectangle 8"/>
          <p:cNvSpPr/>
          <p:nvPr/>
        </p:nvSpPr>
        <p:spPr>
          <a:xfrm>
            <a:off x="457200" y="3291839"/>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355847"/>
            <a:ext cx="10881360" cy="530352"/>
          </a:xfrm>
          <a:prstGeom prst="rect">
            <a:avLst/>
          </a:prstGeom>
          <a:noFill/>
        </p:spPr>
        <p:txBody>
          <a:bodyPr wrap="square">
            <a:spAutoFit/>
          </a:bodyPr>
          <a:lstStyle/>
          <a:p>
            <a:pPr algn="l"/>
            <a:r>
              <a:rPr sz="1300" b="0">
                <a:solidFill>
                  <a:srgbClr val="FFFFFF"/>
                </a:solidFill>
              </a:rPr>
              <a:t>PDD Covers:  Scope, I/O specs, 5 exception types, 5 measurable KPIs</a:t>
            </a:r>
          </a:p>
        </p:txBody>
      </p:sp>
      <p:sp>
        <p:nvSpPr>
          <p:cNvPr id="11" name="Rectangle 10"/>
          <p:cNvSpPr/>
          <p:nvPr/>
        </p:nvSpPr>
        <p:spPr>
          <a:xfrm>
            <a:off x="457200" y="4069079"/>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33087"/>
            <a:ext cx="10881360" cy="530352"/>
          </a:xfrm>
          <a:prstGeom prst="rect">
            <a:avLst/>
          </a:prstGeom>
          <a:noFill/>
        </p:spPr>
        <p:txBody>
          <a:bodyPr wrap="square">
            <a:spAutoFit/>
          </a:bodyPr>
          <a:lstStyle/>
          <a:p>
            <a:pPr algn="l"/>
            <a:r>
              <a:rPr sz="1300" b="0">
                <a:solidFill>
                  <a:srgbClr val="FFFFFF"/>
                </a:solidFill>
              </a:rPr>
              <a:t>Implementation:  8-week plan: dev → integration test → UAT → parallel run → go-live</a:t>
            </a:r>
          </a:p>
        </p:txBody>
      </p:sp>
      <p:sp>
        <p:nvSpPr>
          <p:cNvPr id="13" name="Rectangle 12"/>
          <p:cNvSpPr/>
          <p:nvPr/>
        </p:nvSpPr>
        <p:spPr>
          <a:xfrm>
            <a:off x="457200" y="484632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910328"/>
            <a:ext cx="10881360" cy="530352"/>
          </a:xfrm>
          <a:prstGeom prst="rect">
            <a:avLst/>
          </a:prstGeom>
          <a:noFill/>
        </p:spPr>
        <p:txBody>
          <a:bodyPr wrap="square">
            <a:spAutoFit/>
          </a:bodyPr>
          <a:lstStyle/>
          <a:p>
            <a:pPr algn="l"/>
            <a:r>
              <a:rPr sz="1300" b="0">
                <a:solidFill>
                  <a:srgbClr val="FFFFFF"/>
                </a:solidFill>
              </a:rPr>
              <a:t>Website:  Built with Claude Code (vibe coding) — Mermaid.js flowchart + full PDD</a:t>
            </a:r>
          </a:p>
        </p:txBody>
      </p:sp>
      <p:sp>
        <p:nvSpPr>
          <p:cNvPr id="15" name="Rectangle 14"/>
          <p:cNvSpPr/>
          <p:nvPr/>
        </p:nvSpPr>
        <p:spPr>
          <a:xfrm>
            <a:off x="2286000" y="5989320"/>
            <a:ext cx="7616952" cy="36576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6007608"/>
            <a:ext cx="7434072" cy="320040"/>
          </a:xfrm>
          <a:prstGeom prst="rect">
            <a:avLst/>
          </a:prstGeom>
          <a:noFill/>
        </p:spPr>
        <p:txBody>
          <a:bodyPr wrap="square">
            <a:spAutoFit/>
          </a:bodyPr>
          <a:lstStyle/>
          <a:p>
            <a:pPr algn="ctr"/>
            <a:r>
              <a:rPr sz="900" b="0">
                <a:solidFill>
                  <a:srgbClr val="88BBEE"/>
                </a:solidFill>
              </a:rPr>
              <a:t>Live Website: https://omais-eng.github.io/rpa/assignment2/index.html   |   GitHub: https://github.com/omais-eng/rpa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